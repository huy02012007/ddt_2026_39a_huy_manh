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4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5006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82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ĐẠI HỌC BÁCH KHOA - ĐẠI HỌC ĐÀ NẴNG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37160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KHOA ĐIỆN TỬ VIỄN THÔNG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0" y="758952"/>
            <a:ext cx="1828800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28976" y="35036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0" y="758952"/>
            <a:ext cx="1828800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BÁO CÁO CUỐI KỲ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HỆ THỐNG QUẢN LÝ SÂN CẦU LÔNG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45920" y="347472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Môn học  :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PBL1: Lập trình
</a:t>
            </a: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     :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3
</a:t>
            </a: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viên: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Hữu Mạnh (106250192)  |  Nguyễn Hữu Huy (106250074)
</a:t>
            </a: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GVHD     :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Đào Duy Tuấn
</a:t>
            </a: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       :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pic>
        <p:nvPicPr>
          <p:cNvPr id="10" name="Picture 2" descr="Không có mô tả ảnh.">
            <a:extLst>
              <a:ext uri="{FF2B5EF4-FFF2-40B4-BE49-F238E27FC236}">
                <a16:creationId xmlns:a16="http://schemas.microsoft.com/office/drawing/2014/main" id="{9940443B-06E0-4F9B-9A94-DC7FCA616D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0388" y="806395"/>
            <a:ext cx="2203224" cy="1010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91440"/>
            <a:ext cx="3474720" cy="5669280"/>
          </a:xfrm>
          <a:prstGeom prst="rect">
            <a:avLst/>
          </a:prstGeom>
          <a:solidFill>
            <a:srgbClr val="E8E0D5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2011680" y="-91440"/>
            <a:ext cx="1280160" cy="5669280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20116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NỘI DUNG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91840" y="429768"/>
            <a:ext cx="411480" cy="411480"/>
          </a:xfrm>
          <a:prstGeom prst="ellipse">
            <a:avLst/>
          </a:prstGeom>
          <a:solidFill>
            <a:srgbClr val="C86B2A"/>
          </a:solidFill>
          <a:ln w="12700">
            <a:solidFill>
              <a:srgbClr val="C86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0" y="457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Giới thiệu đề tài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91840" y="1271016"/>
            <a:ext cx="411480" cy="411480"/>
          </a:xfrm>
          <a:prstGeom prst="ellipse">
            <a:avLst/>
          </a:prstGeom>
          <a:solidFill>
            <a:srgbClr val="C86B2A"/>
          </a:solidFill>
          <a:ln w="12700">
            <a:solidFill>
              <a:srgbClr val="C86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12984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Lưu đồ hệ thống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91840" y="2112264"/>
            <a:ext cx="411480" cy="411480"/>
          </a:xfrm>
          <a:prstGeom prst="ellipse">
            <a:avLst/>
          </a:prstGeom>
          <a:solidFill>
            <a:srgbClr val="C86B2A"/>
          </a:solidFill>
          <a:ln w="12700">
            <a:solidFill>
              <a:srgbClr val="C86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213969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&amp; Nhận xét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91840" y="2953512"/>
            <a:ext cx="411480" cy="411480"/>
          </a:xfrm>
          <a:prstGeom prst="ellipse">
            <a:avLst/>
          </a:prstGeom>
          <a:solidFill>
            <a:srgbClr val="C86B2A"/>
          </a:solidFill>
          <a:ln w="12700">
            <a:solidFill>
              <a:srgbClr val="C86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298094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luận &amp; Hướng phát triển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31920" y="38221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91440"/>
            <a:ext cx="3474720" cy="5669280"/>
          </a:xfrm>
          <a:prstGeom prst="rect">
            <a:avLst/>
          </a:prstGeom>
          <a:solidFill>
            <a:srgbClr val="E8E0D5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2011680" y="-91440"/>
            <a:ext cx="1280160" cy="5669280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0"/>
            <a:ext cx="0" cy="109728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1097280"/>
            <a:ext cx="22860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1645920"/>
            <a:ext cx="731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200400" y="146304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Giới Thiệu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Đề Tài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8E0D5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0">
            <a:solidFill>
              <a:srgbClr val="C86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TỔNG QUAN &amp; TÍNH CẤP THIẾT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9F6F2"/>
          </a:solidFill>
          <a:ln w="12700">
            <a:solidFill>
              <a:srgbClr val="E8E0D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 Tổng Quan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7947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Console C++ áp dụng OOP quản lý toàn diện câu lạc bộ cầu lông:
• Phân quyền Admin / Staff
• Quản lý sân, đặt lịch, check-in/out
• Dịch vụ kèm + quản lý kho hàng
• Tích điểm thành viên (Normal → Silver → Gold → VIP)
• Tính hóa đơn tự động theo khung giờ
• Lưu trữ bền vững qua file .txt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960120"/>
            <a:ext cx="4297680" cy="3566160"/>
          </a:xfrm>
          <a:prstGeom prst="roundRect">
            <a:avLst>
              <a:gd name="adj" fmla="val 2564"/>
            </a:avLst>
          </a:prstGeom>
          <a:solidFill>
            <a:srgbClr val="F9F6F2"/>
          </a:solidFill>
          <a:ln w="12700">
            <a:solidFill>
              <a:srgbClr val="E8E0D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 Tính Cấp Thiết &amp; Ý Nghĩa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146304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thực tế:
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thủ công → trùng lịch, thất thu doanh thu, khó tri ân khách.
</a:t>
            </a: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nghĩa:
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Chủ sân: tối ưu vận hành, nắm doanh thu tức thời
✔ Học thuật: vận dụng OOP – Kế thừa, Đóng gói, Đa hình, File I/O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8E0D5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0">
            <a:solidFill>
              <a:srgbClr val="C86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TIÊU &amp; PHẠM VI NGHIÊN CỨU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9F6F2"/>
          </a:solidFill>
          <a:ln w="12700">
            <a:solidFill>
              <a:srgbClr val="E8E0D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502920" cy="502920"/>
          </a:xfrm>
          <a:prstGeom prst="ellipse">
            <a:avLst/>
          </a:prstGeom>
          <a:solidFill>
            <a:srgbClr val="C86B2A"/>
          </a:solidFill>
          <a:ln w="12700">
            <a:solidFill>
              <a:srgbClr val="C86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11556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Kỹ thuật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536192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OOP: Đóng gói, Kế thừa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(Nguoi → KhachHang, NguoiDung)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con trỏ, nạp chồng toán tử, File I/O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9F6F2"/>
          </a:solidFill>
          <a:ln w="12700">
            <a:solidFill>
              <a:srgbClr val="E8E0D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97280"/>
            <a:ext cx="502920" cy="502920"/>
          </a:xfrm>
          <a:prstGeom prst="ellipse">
            <a:avLst/>
          </a:prstGeom>
          <a:solidFill>
            <a:srgbClr val="C86B2A"/>
          </a:solidFill>
          <a:ln w="12700">
            <a:solidFill>
              <a:srgbClr val="C86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94960" y="111556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Thực tiễn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536192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hóa: đặt sân, check-in,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 dịch vụ, tính tiền linh hoạt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(giờ vàng, cuối tuần), tích điểm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288036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9F6F2"/>
          </a:solidFill>
          <a:ln w="12700">
            <a:solidFill>
              <a:srgbClr val="E8E0D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71800"/>
            <a:ext cx="502920" cy="502920"/>
          </a:xfrm>
          <a:prstGeom prst="ellipse">
            <a:avLst/>
          </a:prstGeom>
          <a:solidFill>
            <a:srgbClr val="C86B2A"/>
          </a:solidFill>
          <a:ln w="12700">
            <a:solidFill>
              <a:srgbClr val="C86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9900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hệ Admin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3410712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giá thuê, quản lý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hàng, tài khoản nhân viên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doanh thu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288036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9F6F2"/>
          </a:solidFill>
          <a:ln w="12700">
            <a:solidFill>
              <a:srgbClr val="E8E0D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971800"/>
            <a:ext cx="502920" cy="502920"/>
          </a:xfrm>
          <a:prstGeom prst="ellipse">
            <a:avLst/>
          </a:prstGeom>
          <a:solidFill>
            <a:srgbClr val="C86B2A"/>
          </a:solidFill>
          <a:ln w="12700">
            <a:solidFill>
              <a:srgbClr val="C86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29900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hệ Staff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3410712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sân, check-in/out,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gọi dịch vụ, xuất hóa đơn,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khách hàng thành viên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91440"/>
            <a:ext cx="3474720" cy="5669280"/>
          </a:xfrm>
          <a:prstGeom prst="rect">
            <a:avLst/>
          </a:prstGeom>
          <a:solidFill>
            <a:srgbClr val="E8E0D5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2011680" y="-91440"/>
            <a:ext cx="1280160" cy="5669280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0"/>
            <a:ext cx="0" cy="109728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1097280"/>
            <a:ext cx="22860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1645920"/>
            <a:ext cx="731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200400" y="146304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Lưu Đồ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Hệ Thống</a:t>
            </a:r>
            <a:endParaRPr lang="en-US" sz="4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8E0D5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0">
            <a:solidFill>
              <a:srgbClr val="C86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LƯU ĐỒ 1: TỔNG THỂ HỆ THỐNG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91440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C86B2A"/>
          </a:solidFill>
          <a:ln w="19050">
            <a:solidFill>
              <a:srgbClr val="C86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914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động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KhoiTaoGiaTri()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DocFileDuLieu()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78308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E8E0D5"/>
          </a:solidFill>
          <a:ln w="19050">
            <a:solidFill>
              <a:srgbClr val="C86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05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Chính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256032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F9F6F2"/>
          </a:solidFill>
          <a:ln w="19050">
            <a:solidFill>
              <a:srgbClr val="C86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2560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XuLiDangNhap()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C86B2A"/>
          </a:solidFill>
          <a:ln w="19050">
            <a:solidFill>
              <a:srgbClr val="C86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657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ADMIN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365760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C86B2A"/>
          </a:solidFill>
          <a:ln w="19050">
            <a:solidFill>
              <a:srgbClr val="C86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3657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STAFF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420624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E8E0D5"/>
          </a:solidFill>
          <a:ln w="19050">
            <a:solidFill>
              <a:srgbClr val="C86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4206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5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&amp; Thoát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5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GhiFileDuLieu()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1554480"/>
            <a:ext cx="0" cy="228600"/>
          </a:xfrm>
          <a:prstGeom prst="line">
            <a:avLst/>
          </a:prstGeom>
          <a:noFill/>
          <a:ln w="19050">
            <a:solidFill>
              <a:srgbClr val="C86B2A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4572000" y="2286000"/>
            <a:ext cx="0" cy="274320"/>
          </a:xfrm>
          <a:prstGeom prst="line">
            <a:avLst/>
          </a:prstGeom>
          <a:noFill/>
          <a:ln w="19050">
            <a:solidFill>
              <a:srgbClr val="C86B2A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3931920" y="3108960"/>
            <a:ext cx="0" cy="0"/>
          </a:xfrm>
          <a:prstGeom prst="line">
            <a:avLst/>
          </a:prstGeom>
          <a:noFill/>
          <a:ln w="19050">
            <a:solidFill>
              <a:srgbClr val="C86B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37360" y="2834639"/>
            <a:ext cx="0" cy="822961"/>
          </a:xfrm>
          <a:prstGeom prst="line">
            <a:avLst/>
          </a:prstGeom>
          <a:noFill/>
          <a:ln w="19050">
            <a:solidFill>
              <a:srgbClr val="C86B2A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5943600" y="2834639"/>
            <a:ext cx="1463040" cy="0"/>
          </a:xfrm>
          <a:prstGeom prst="line">
            <a:avLst/>
          </a:prstGeom>
          <a:noFill/>
          <a:ln w="19050">
            <a:solidFill>
              <a:srgbClr val="C86B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94720" y="2819406"/>
            <a:ext cx="11920" cy="838194"/>
          </a:xfrm>
          <a:prstGeom prst="line">
            <a:avLst/>
          </a:prstGeom>
          <a:noFill/>
          <a:ln w="19050">
            <a:solidFill>
              <a:srgbClr val="C86B2A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3200400" y="2039112"/>
            <a:ext cx="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2377440" y="4206240"/>
            <a:ext cx="0" cy="274320"/>
          </a:xfrm>
          <a:prstGeom prst="line">
            <a:avLst/>
          </a:prstGeom>
          <a:noFill/>
          <a:ln w="12700">
            <a:solidFill>
              <a:srgbClr val="666666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2377440" y="4480560"/>
            <a:ext cx="82296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dash"/>
            <a:tailEnd type="arrow"/>
          </a:ln>
        </p:spPr>
      </p:sp>
      <p:sp>
        <p:nvSpPr>
          <p:cNvPr id="26" name="Text 24"/>
          <p:cNvSpPr/>
          <p:nvPr/>
        </p:nvSpPr>
        <p:spPr>
          <a:xfrm>
            <a:off x="1965960" y="2514599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 → Admin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55080" y="243459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 → Staff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82880" y="23774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0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(Thoát)</a:t>
            </a:r>
            <a:endParaRPr lang="en-US" sz="900" dirty="0"/>
          </a:p>
        </p:txBody>
      </p:sp>
      <p:sp>
        <p:nvSpPr>
          <p:cNvPr id="29" name="Shape 19">
            <a:extLst>
              <a:ext uri="{FF2B5EF4-FFF2-40B4-BE49-F238E27FC236}">
                <a16:creationId xmlns:a16="http://schemas.microsoft.com/office/drawing/2014/main" id="{41A43E14-6631-45BC-90B2-7398F972487B}"/>
              </a:ext>
            </a:extLst>
          </p:cNvPr>
          <p:cNvSpPr/>
          <p:nvPr/>
        </p:nvSpPr>
        <p:spPr>
          <a:xfrm flipV="1">
            <a:off x="1749282" y="2855841"/>
            <a:ext cx="1451118" cy="1"/>
          </a:xfrm>
          <a:prstGeom prst="line">
            <a:avLst/>
          </a:prstGeom>
          <a:noFill/>
          <a:ln w="19050">
            <a:solidFill>
              <a:srgbClr val="C86B2A"/>
            </a:solidFill>
            <a:prstDash val="solid"/>
          </a:ln>
        </p:spPr>
      </p:sp>
      <p:sp>
        <p:nvSpPr>
          <p:cNvPr id="30" name="Shape 22">
            <a:extLst>
              <a:ext uri="{FF2B5EF4-FFF2-40B4-BE49-F238E27FC236}">
                <a16:creationId xmlns:a16="http://schemas.microsoft.com/office/drawing/2014/main" id="{FE99BBD4-836F-46C8-BBC4-B58D65B2206E}"/>
              </a:ext>
            </a:extLst>
          </p:cNvPr>
          <p:cNvSpPr/>
          <p:nvPr/>
        </p:nvSpPr>
        <p:spPr>
          <a:xfrm>
            <a:off x="7406640" y="4221480"/>
            <a:ext cx="0" cy="274320"/>
          </a:xfrm>
          <a:prstGeom prst="line">
            <a:avLst/>
          </a:prstGeom>
          <a:noFill/>
          <a:ln w="12700">
            <a:solidFill>
              <a:srgbClr val="666666"/>
            </a:solidFill>
            <a:prstDash val="dash"/>
          </a:ln>
        </p:spPr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B897DB2A-DA23-46C5-9DC7-6A781EFBCB98}"/>
              </a:ext>
            </a:extLst>
          </p:cNvPr>
          <p:cNvSpPr/>
          <p:nvPr/>
        </p:nvSpPr>
        <p:spPr>
          <a:xfrm flipH="1">
            <a:off x="5943600" y="4495799"/>
            <a:ext cx="1463040" cy="15235"/>
          </a:xfrm>
          <a:prstGeom prst="line">
            <a:avLst/>
          </a:prstGeom>
          <a:noFill/>
          <a:ln w="19050">
            <a:solidFill>
              <a:srgbClr val="666666"/>
            </a:solidFill>
            <a:prstDash val="dash"/>
            <a:tailEnd type="arrow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8E0D5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0">
            <a:solidFill>
              <a:srgbClr val="C86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LƯU ĐỒ 2: QUY TRÌNH THANH TOÁN (CHECK-OUT)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C86B2A"/>
          </a:solidFill>
          <a:ln w="19050">
            <a:solidFill>
              <a:srgbClr val="C86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SDT khách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(đang chơi)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874520"/>
            <a:ext cx="3474720" cy="777240"/>
          </a:xfrm>
          <a:prstGeom prst="roundRect">
            <a:avLst>
              <a:gd name="adj" fmla="val 41176"/>
            </a:avLst>
          </a:prstGeom>
          <a:solidFill>
            <a:srgbClr val="FFF3E8"/>
          </a:solidFill>
          <a:ln w="25400">
            <a:solidFill>
              <a:srgbClr val="C86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8745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đơn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TrangThai == Playing?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88036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F9F6F2"/>
          </a:solidFill>
          <a:ln w="19050">
            <a:solidFill>
              <a:srgbClr val="C86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8803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thời gian chơi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SoGio = TongPhut / 60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288036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F9F6F2"/>
          </a:solidFill>
          <a:ln w="19050">
            <a:solidFill>
              <a:srgbClr val="C86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8803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giá theo Ngày/Giờ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(Zeller → Thứ trong tuần)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87452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F9F6F2"/>
          </a:solidFill>
          <a:ln w="19050">
            <a:solidFill>
              <a:srgbClr val="C86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874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Xét hạng giảm giá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(VIP -20%, Gold -10%)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96012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F9F6F2"/>
          </a:solidFill>
          <a:ln w="19050">
            <a:solidFill>
              <a:srgbClr val="C86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9601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tổng hóa đơn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Tích điểm thành viên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06040" y="3931920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F9F6F2"/>
          </a:solidFill>
          <a:ln w="19050">
            <a:solidFill>
              <a:srgbClr val="C86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39319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phóng sân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Xuất hóa đơn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20240" y="1600200"/>
            <a:ext cx="0" cy="274320"/>
          </a:xfrm>
          <a:prstGeom prst="line">
            <a:avLst/>
          </a:prstGeom>
          <a:noFill/>
          <a:ln w="19050">
            <a:solidFill>
              <a:srgbClr val="C86B2A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920240" y="2651760"/>
            <a:ext cx="0" cy="228600"/>
          </a:xfrm>
          <a:prstGeom prst="line">
            <a:avLst/>
          </a:prstGeom>
          <a:noFill/>
          <a:ln w="19050">
            <a:solidFill>
              <a:srgbClr val="C86B2A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3749040" y="3200400"/>
            <a:ext cx="822960" cy="0"/>
          </a:xfrm>
          <a:prstGeom prst="line">
            <a:avLst/>
          </a:prstGeom>
          <a:noFill/>
          <a:ln w="19050">
            <a:solidFill>
              <a:srgbClr val="C86B2A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6309360" y="2880360"/>
            <a:ext cx="0" cy="0"/>
          </a:xfrm>
          <a:prstGeom prst="line">
            <a:avLst/>
          </a:prstGeom>
          <a:noFill/>
          <a:ln w="19050">
            <a:solidFill>
              <a:srgbClr val="C86B2A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6309360" y="1874520"/>
            <a:ext cx="0" cy="0"/>
          </a:xfrm>
          <a:prstGeom prst="line">
            <a:avLst/>
          </a:prstGeom>
          <a:noFill/>
          <a:ln w="19050">
            <a:solidFill>
              <a:srgbClr val="C86B2A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6309360" y="960120"/>
            <a:ext cx="0" cy="0"/>
          </a:xfrm>
          <a:prstGeom prst="line">
            <a:avLst/>
          </a:prstGeom>
          <a:noFill/>
          <a:ln w="19050">
            <a:solidFill>
              <a:srgbClr val="C86B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88920" y="960120"/>
            <a:ext cx="0" cy="2971800"/>
          </a:xfrm>
          <a:prstGeom prst="line">
            <a:avLst/>
          </a:prstGeom>
          <a:noFill/>
          <a:ln w="19050">
            <a:solidFill>
              <a:srgbClr val="C86B2A"/>
            </a:solidFill>
            <a:prstDash val="solid"/>
            <a:tailEnd type="arrow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8E0D5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0">
            <a:solidFill>
              <a:srgbClr val="C86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LƯU ĐỒ 3: ĐĂNG NHẬP &amp; PHÂN QUYỀN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26080" y="96012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C86B2A"/>
          </a:solidFill>
          <a:ln w="19050">
            <a:solidFill>
              <a:srgbClr val="C86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0" y="9601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Tài Khoản &amp; Mật Khẩu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0" y="178308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F9F6F2"/>
          </a:solidFill>
          <a:ln w="19050">
            <a:solidFill>
              <a:srgbClr val="C86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17830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mảng DSNguoiDung[]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TK + MK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0" y="2606040"/>
            <a:ext cx="3291840" cy="594360"/>
          </a:xfrm>
          <a:prstGeom prst="roundRect">
            <a:avLst>
              <a:gd name="adj" fmla="val 49231"/>
            </a:avLst>
          </a:prstGeom>
          <a:solidFill>
            <a:srgbClr val="FFF3E8"/>
          </a:solidFill>
          <a:ln w="19050">
            <a:solidFill>
              <a:srgbClr val="C86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2606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tin khớp?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26080" y="3429000"/>
            <a:ext cx="3291840" cy="594360"/>
          </a:xfrm>
          <a:prstGeom prst="roundRect">
            <a:avLst>
              <a:gd name="adj" fmla="val 49231"/>
            </a:avLst>
          </a:prstGeom>
          <a:solidFill>
            <a:srgbClr val="FFF3E8"/>
          </a:solidFill>
          <a:ln w="19050">
            <a:solidFill>
              <a:srgbClr val="C86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34290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VaiTro?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554480"/>
            <a:ext cx="0" cy="228600"/>
          </a:xfrm>
          <a:prstGeom prst="line">
            <a:avLst/>
          </a:prstGeom>
          <a:noFill/>
          <a:ln w="19050">
            <a:solidFill>
              <a:srgbClr val="C86B2A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4572000" y="2377440"/>
            <a:ext cx="0" cy="228600"/>
          </a:xfrm>
          <a:prstGeom prst="line">
            <a:avLst/>
          </a:prstGeom>
          <a:noFill/>
          <a:ln w="19050">
            <a:solidFill>
              <a:srgbClr val="C86B2A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4572000" y="3200400"/>
            <a:ext cx="0" cy="228600"/>
          </a:xfrm>
          <a:prstGeom prst="line">
            <a:avLst/>
          </a:prstGeom>
          <a:noFill/>
          <a:ln w="19050">
            <a:solidFill>
              <a:srgbClr val="C86B2A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2926080" y="2898648"/>
            <a:ext cx="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011680" y="2898648"/>
            <a:ext cx="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011680" y="1344168"/>
            <a:ext cx="91440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dash"/>
            <a:tailEnd type="arrow"/>
          </a:ln>
        </p:spPr>
      </p:sp>
      <p:sp>
        <p:nvSpPr>
          <p:cNvPr id="19" name="Text 17"/>
          <p:cNvSpPr/>
          <p:nvPr/>
        </p:nvSpPr>
        <p:spPr>
          <a:xfrm>
            <a:off x="1051560" y="1188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→ nhập lại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4251960"/>
            <a:ext cx="2926080" cy="594360"/>
          </a:xfrm>
          <a:prstGeom prst="roundRect">
            <a:avLst>
              <a:gd name="adj" fmla="val 12308"/>
            </a:avLst>
          </a:prstGeom>
          <a:solidFill>
            <a:srgbClr val="C86B2A"/>
          </a:solidFill>
          <a:ln w="12700">
            <a:solidFill>
              <a:srgbClr val="C86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2519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MenuAdmin()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852160" y="4251960"/>
            <a:ext cx="2926080" cy="594360"/>
          </a:xfrm>
          <a:prstGeom prst="roundRect">
            <a:avLst>
              <a:gd name="adj" fmla="val 12308"/>
            </a:avLst>
          </a:prstGeom>
          <a:solidFill>
            <a:srgbClr val="C86B2A"/>
          </a:solidFill>
          <a:ln w="12700">
            <a:solidFill>
              <a:srgbClr val="C86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42519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MenuStaff()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00400" y="3730752"/>
            <a:ext cx="0" cy="0"/>
          </a:xfrm>
          <a:prstGeom prst="line">
            <a:avLst/>
          </a:prstGeom>
          <a:noFill/>
          <a:ln w="19050">
            <a:solidFill>
              <a:srgbClr val="C86B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0" y="3730752"/>
            <a:ext cx="0" cy="521208"/>
          </a:xfrm>
          <a:prstGeom prst="line">
            <a:avLst/>
          </a:prstGeom>
          <a:noFill/>
          <a:ln w="19050">
            <a:solidFill>
              <a:srgbClr val="C86B2A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6217920" y="3711139"/>
            <a:ext cx="1188720" cy="0"/>
          </a:xfrm>
          <a:prstGeom prst="line">
            <a:avLst/>
          </a:prstGeom>
          <a:noFill/>
          <a:ln w="19050">
            <a:solidFill>
              <a:srgbClr val="C86B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06640" y="3730752"/>
            <a:ext cx="0" cy="521208"/>
          </a:xfrm>
          <a:prstGeom prst="line">
            <a:avLst/>
          </a:prstGeom>
          <a:noFill/>
          <a:ln w="19050">
            <a:solidFill>
              <a:srgbClr val="C86B2A"/>
            </a:solidFill>
            <a:prstDash val="solid"/>
            <a:tailEnd type="arrow"/>
          </a:ln>
        </p:spPr>
      </p:sp>
      <p:sp>
        <p:nvSpPr>
          <p:cNvPr id="28" name="Text 26"/>
          <p:cNvSpPr/>
          <p:nvPr/>
        </p:nvSpPr>
        <p:spPr>
          <a:xfrm>
            <a:off x="2011680" y="3493009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537960" y="3481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950" dirty="0"/>
          </a:p>
        </p:txBody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8B64B197-A43E-4BA2-A344-E94DE858C5FC}"/>
              </a:ext>
            </a:extLst>
          </p:cNvPr>
          <p:cNvSpPr/>
          <p:nvPr/>
        </p:nvSpPr>
        <p:spPr>
          <a:xfrm flipV="1">
            <a:off x="1645920" y="3703320"/>
            <a:ext cx="1280160" cy="3511"/>
          </a:xfrm>
          <a:prstGeom prst="line">
            <a:avLst/>
          </a:prstGeom>
          <a:noFill/>
          <a:ln w="19050">
            <a:solidFill>
              <a:srgbClr val="C86B2A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91440"/>
            <a:ext cx="3474720" cy="5669280"/>
          </a:xfrm>
          <a:prstGeom prst="rect">
            <a:avLst/>
          </a:prstGeom>
          <a:solidFill>
            <a:srgbClr val="E8E0D5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2011680" y="-91440"/>
            <a:ext cx="1280160" cy="5669280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0"/>
            <a:ext cx="0" cy="109728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1097280"/>
            <a:ext cx="22860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1645920"/>
            <a:ext cx="731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200400" y="146304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Nhận Xét</a:t>
            </a:r>
            <a:endParaRPr lang="en-US" sz="4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8E0D5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0">
            <a:solidFill>
              <a:srgbClr val="C86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ĐẠT ĐƯỢC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9F6F2"/>
          </a:solidFill>
          <a:ln w="12700">
            <a:solidFill>
              <a:srgbClr val="E8E0D5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38328" y="105156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Tự động hóa toàn phần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" y="1435608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sân → Check-in → Gọi dịch vụ → Check-out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hóa đơn tự động theo khung giờ &amp; hạng thành viên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9F6F2"/>
          </a:solidFill>
          <a:ln w="12700">
            <a:solidFill>
              <a:srgbClr val="E8E0D5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55848" y="105156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🛡️  Kiểm soát lỗi đầu vào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55848" y="1435608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Chặn cin fail state, số lượng âm, tràn mảng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bộ đệm cin.fail() &amp; cin.ignore()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9601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9F6F2"/>
          </a:solidFill>
          <a:ln w="12700">
            <a:solidFill>
              <a:srgbClr val="E8E0D5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73368" y="105156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🕐  Chống trùng lịch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73368" y="1435608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Nạp chồng toán tử &lt; &gt; cho struct Time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giao thời gian chính xác tức thì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83464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9F6F2"/>
          </a:solidFill>
          <a:ln w="12700">
            <a:solidFill>
              <a:srgbClr val="E8E0D5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8328" y="292608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💾  Lưu trữ bền vững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" y="3310128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Đọc/Ghi file .txt qua fstream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sân, khách, kho, hóa đơn không mất khi tắt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46120" y="283464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9F6F2"/>
          </a:solidFill>
          <a:ln w="12700">
            <a:solidFill>
              <a:srgbClr val="E8E0D5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55848" y="292608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🖥️  Giao diện CLI trực quan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55848" y="3310128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biểu iomanip + màu ANSI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Đỏ = lỗi, Xanh = thành công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8E0D5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0">
            <a:solidFill>
              <a:srgbClr val="C86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NHẬN XÉT – ƯU ĐIỂM &amp; HẠN CHẾ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160520" cy="3840480"/>
          </a:xfrm>
          <a:prstGeom prst="roundRect">
            <a:avLst>
              <a:gd name="adj" fmla="val 2381"/>
            </a:avLst>
          </a:prstGeom>
          <a:solidFill>
            <a:srgbClr val="F0FAF3"/>
          </a:solidFill>
          <a:ln w="12700">
            <a:solidFill>
              <a:srgbClr val="A8D5B5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7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Ưu Điểm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44752"/>
            <a:ext cx="38404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OOP chuẩn: kế thừa Nguoi → KhachHang, NguoiDung
✔ Tính giá linh hoạt: giờ thường / cao điểm / cuối tuần
✔ Thuật toán chặn trùng lịch chính xác tuyệt đối
✔ Kiểm soát kho hàng chặt chẽ (kiểm tra tồn kho)
✔ Dữ liệu bền vững qua file .txt
✔ Giao diện CLI rõ ràng, màu sắc phân loại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160520" cy="3840480"/>
          </a:xfrm>
          <a:prstGeom prst="roundRect">
            <a:avLst>
              <a:gd name="adj" fmla="val 2381"/>
            </a:avLst>
          </a:prstGeom>
          <a:solidFill>
            <a:srgbClr val="FFF5F5"/>
          </a:solidFill>
          <a:ln w="12700">
            <a:solidFill>
              <a:srgbClr val="F0AAAA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 Hạn Chế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444752"/>
            <a:ext cx="38404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Mảng cố định kích thước → nguy cơ tràn bộ nhớ khi mở rộng
✖ Tài khoản lưu plaintext trong file .txt → thiếu bảo mật
✖ Giao diện CLI → khó dùng, dễ lỗi bộ đệm nhập
✖ Không có DBMS → chậm khi dữ liệu lớn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8E0D5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0">
            <a:solidFill>
              <a:srgbClr val="C86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VẤN ĐỀ PHÁT SINH &amp; GIẢI PHÁP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48640" cy="548640"/>
          </a:xfrm>
          <a:prstGeom prst="ellipse">
            <a:avLst/>
          </a:prstGeom>
          <a:solidFill>
            <a:srgbClr val="C86B2A"/>
          </a:solidFill>
          <a:ln w="12700">
            <a:solidFill>
              <a:srgbClr val="C86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05840" y="1005840"/>
            <a:ext cx="7863840" cy="1143000"/>
          </a:xfrm>
          <a:prstGeom prst="roundRect">
            <a:avLst>
              <a:gd name="adj" fmla="val 6400"/>
            </a:avLst>
          </a:prstGeom>
          <a:solidFill>
            <a:srgbClr val="F9F6F2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0515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5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❓ Tự xác định Thứ để áp giá cuối tuần?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389888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Tích hợp thuật toán Zeller vào hàm LayThu()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Tự trả về chuỗi "Thu 7" / "Chu Nhat" không cần nhập tay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377440"/>
            <a:ext cx="548640" cy="548640"/>
          </a:xfrm>
          <a:prstGeom prst="ellipse">
            <a:avLst/>
          </a:prstGeom>
          <a:solidFill>
            <a:srgbClr val="C86B2A"/>
          </a:solidFill>
          <a:ln w="12700">
            <a:solidFill>
              <a:srgbClr val="C86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05840" y="2286000"/>
            <a:ext cx="7863840" cy="1143000"/>
          </a:xfrm>
          <a:prstGeom prst="roundRect">
            <a:avLst>
              <a:gd name="adj" fmla="val 6400"/>
            </a:avLst>
          </a:prstGeom>
          <a:solidFill>
            <a:srgbClr val="F9F6F2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3317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5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❓ Lỗi cin &gt;&gt; kết hợp getline() → lặp vô hạn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670048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Dùng cin.ignore() / FileDatVatDung.ignore() sau cin &gt;&gt;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Đặt khối cin.fail() ở main() để reset luồng nhập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657600"/>
            <a:ext cx="548640" cy="548640"/>
          </a:xfrm>
          <a:prstGeom prst="ellipse">
            <a:avLst/>
          </a:prstGeom>
          <a:solidFill>
            <a:srgbClr val="C86B2A"/>
          </a:solidFill>
          <a:ln w="12700">
            <a:solidFill>
              <a:srgbClr val="C86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05840" y="3566160"/>
            <a:ext cx="7863840" cy="1143000"/>
          </a:xfrm>
          <a:prstGeom prst="roundRect">
            <a:avLst>
              <a:gd name="adj" fmla="val 6400"/>
            </a:avLst>
          </a:prstGeom>
          <a:solidFill>
            <a:srgbClr val="F9F6F2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6118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5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❓ Gọi dịch vụ nhiều lần → dư dòng hóa đơn?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950208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ThemDichVu() quét mảng trước: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Nếu món đã tồn tại → cộng dồn SL, không tạo dòng mới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91440"/>
            <a:ext cx="3474720" cy="5669280"/>
          </a:xfrm>
          <a:prstGeom prst="rect">
            <a:avLst/>
          </a:prstGeom>
          <a:solidFill>
            <a:srgbClr val="E8E0D5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2011680" y="-91440"/>
            <a:ext cx="1280160" cy="5669280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0"/>
            <a:ext cx="0" cy="109728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1097280"/>
            <a:ext cx="22860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1645920"/>
            <a:ext cx="731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200400" y="146304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Luận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Hướng Phát Triển</a:t>
            </a:r>
            <a:endParaRPr lang="en-US" sz="4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8E0D5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0">
            <a:solidFill>
              <a:srgbClr val="C86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LUẬN &amp; HƯỚNG PHÁT TRIỂN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160520" cy="3840480"/>
          </a:xfrm>
          <a:prstGeom prst="roundRect">
            <a:avLst>
              <a:gd name="adj" fmla="val 2381"/>
            </a:avLst>
          </a:prstGeom>
          <a:solidFill>
            <a:srgbClr val="F9F6F2"/>
          </a:solidFill>
          <a:ln w="12700">
            <a:solidFill>
              <a:srgbClr val="E8E0D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🏆  Kết Luận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44752"/>
            <a:ext cx="38404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Hoàn thành 100% tính năng cốt lõi
✔ Vận dụng tốt OOP: Đóng gói &amp; Kế thừa
✔ Chặn trùng lịch, tính tiền tự động theo Zeller
✔ Tích điểm nâng hạng thành viên
✔ Lưu trữ bền vững qua File I/O
✔ CLI thân thiện với màu sắc ANSI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160520" cy="3840480"/>
          </a:xfrm>
          <a:prstGeom prst="roundRect">
            <a:avLst>
              <a:gd name="adj" fmla="val 2381"/>
            </a:avLst>
          </a:prstGeom>
          <a:solidFill>
            <a:srgbClr val="F9F6F2"/>
          </a:solidFill>
          <a:ln w="12700">
            <a:solidFill>
              <a:srgbClr val="E8E0D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🚀  Hướng Phát Triển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444752"/>
            <a:ext cx="38404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Thay mảng bằng STL (vector/list)
→ Xây dựng giao diện đồ họa (Qt Creator)
→ Mã hóa mật khẩu (MD5/SHA-256)
→ Kết nối CSDL MySQL / SQLite
→ Phát triển app/web cho đặt lịch từ xa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91440"/>
            <a:ext cx="3474720" cy="5669280"/>
          </a:xfrm>
          <a:prstGeom prst="rect">
            <a:avLst/>
          </a:prstGeom>
          <a:solidFill>
            <a:srgbClr val="E8E0D5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2011680" y="-91440"/>
            <a:ext cx="1280160" cy="5669280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0" y="45720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LỜI CẢM ƠN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108960" y="1097280"/>
            <a:ext cx="5760720" cy="0"/>
          </a:xfrm>
          <a:prstGeom prst="line">
            <a:avLst/>
          </a:prstGeom>
          <a:noFill/>
          <a:ln w="19050">
            <a:solidFill>
              <a:srgbClr val="E8E0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0" y="1234440"/>
            <a:ext cx="5760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3 xin chân thành cảm ơn:
</a:t>
            </a: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Thầy Đào Duy Tuấn
</a:t>
            </a: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 hướng dẫn môn PBL1: Lập trình
Đã tận tình hướng dẫn, góp ý và hỗ trợ trong suốt quá trình thực hiện đề tài.
</a:t>
            </a: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Khoa Điện Tử Viễn Thông
</a:t>
            </a: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tạo điều kiện học tập và nghiên cứu tốt nhất cho sinh viên.
</a:t>
            </a: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Trường Đại học Bách Khoa – ĐHĐN
</a:t>
            </a: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cung cấp môi trường học thuật tích cực và các nguồn tài nguyên phong phú.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91440"/>
            <a:ext cx="3474720" cy="5669280"/>
          </a:xfrm>
          <a:prstGeom prst="rect">
            <a:avLst/>
          </a:prstGeom>
          <a:solidFill>
            <a:srgbClr val="E8E0D5"/>
          </a:solidFill>
          <a:ln w="12700">
            <a:solidFill>
              <a:srgbClr val="E8E0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2011680" y="-91440"/>
            <a:ext cx="1280160" cy="5669280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0" y="1097280"/>
            <a:ext cx="5760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XIN CHÂN THÀNH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C86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108960" y="301752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HỎI ĐÁP &amp; THẢO LUẬN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108960" y="3566160"/>
            <a:ext cx="4572000" cy="0"/>
          </a:xfrm>
          <a:prstGeom prst="line">
            <a:avLst/>
          </a:prstGeom>
          <a:noFill/>
          <a:ln w="25400">
            <a:solidFill>
              <a:srgbClr val="C86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37490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3 – Khoa ĐTVT – ĐH Bách Khoa Đà Nẵng |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1210</Words>
  <Application>Microsoft Office PowerPoint</Application>
  <PresentationFormat>On-screen Show (16:9)</PresentationFormat>
  <Paragraphs>151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Quản Lý Sân Cầu Lông - PBL1</dc:title>
  <dc:subject>PptxGenJS Presentation</dc:subject>
  <dc:creator>Nhóm 3 - ĐTVT - Bách Khoa Đà Nẵng</dc:creator>
  <cp:lastModifiedBy>Huy Nguyễn Hữu</cp:lastModifiedBy>
  <cp:revision>3</cp:revision>
  <dcterms:created xsi:type="dcterms:W3CDTF">2026-06-20T15:31:32Z</dcterms:created>
  <dcterms:modified xsi:type="dcterms:W3CDTF">2026-06-20T09:39:06Z</dcterms:modified>
</cp:coreProperties>
</file>